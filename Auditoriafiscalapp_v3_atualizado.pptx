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Heebo Bold" panose="020B0604020202020204" charset="-79"/>
      <p:regular r:id="rId17"/>
      <p:bold r:id="rId18"/>
    </p:embeddedFont>
    <p:embeddedFont>
      <p:font typeface="Heebo Light" pitchFamily="2" charset="-79"/>
      <p:regular r:id="rId19"/>
    </p:embeddedFont>
    <p:embeddedFont>
      <p:font typeface="Heebo SemiBold" panose="020B0604020202020204" charset="-79"/>
      <p:regular r:id="rId20"/>
    </p:embeddedFont>
    <p:embeddedFont>
      <p:font typeface="Inter Tight" panose="020B0604020202020204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621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9" dt="2026-10-10T05:14:55.8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483DC2-7CC6-4C0F-A97B-4FF1992C0304}" type="datetimeFigureOut">
              <a:t>10/10/2026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76B62-E204-45EF-9E97-F7641B372499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541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>
              <a:alpha val="90000"/>
            </a:srgbClr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2971" y="1460500"/>
            <a:ext cx="9905752" cy="3937000"/>
          </a:xfrm>
          <a:prstGeom prst="roundRect">
            <a:avLst>
              <a:gd name="adj" fmla="val 67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193770" y="2320925"/>
            <a:ext cx="9804155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200" kern="100" spc="36" dirty="0">
                <a:solidFill>
                  <a:srgbClr val="1D1D1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ISW036 — Laboratório de Desenvolvimento para Dispositivos Móveis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98563" y="2435526"/>
            <a:ext cx="9194570" cy="1079500"/>
          </a:xfrm>
          <a:prstGeom prst="rect">
            <a:avLst/>
          </a:prstGeom>
          <a:noFill/>
          <a:ln/>
        </p:spPr>
        <p:txBody>
          <a:bodyPr wrap="none" lIns="0" tIns="158746" rIns="0" bIns="158746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Auditoria Fiscal</a:t>
            </a:r>
            <a:endParaRPr lang="en-US" sz="5000" b="1" dirty="0">
              <a:solidFill>
                <a:srgbClr val="562142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498563" y="3521670"/>
            <a:ext cx="9194570" cy="281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20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Primeiro incremento preliminar para o controle fiscal </a:t>
            </a:r>
            <a:r>
              <a:rPr lang="en-US" sz="2000" dirty="0" err="1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em</a:t>
            </a:r>
            <a:r>
              <a:rPr lang="en-US" sz="20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campo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93769" y="4020391"/>
            <a:ext cx="980415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200" dirty="0">
                <a:solidFill>
                  <a:srgbClr val="562142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Prof. Dr. Desiré </a:t>
            </a:r>
            <a:r>
              <a:rPr lang="en-US" sz="1200" dirty="0" err="1">
                <a:solidFill>
                  <a:srgbClr val="562142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N'guessan</a:t>
            </a:r>
            <a:r>
              <a:rPr lang="en-US" sz="1200" dirty="0">
                <a:solidFill>
                  <a:srgbClr val="562142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 </a:t>
            </a:r>
          </a:p>
          <a:p>
            <a:pPr marL="0" indent="0" algn="ctr">
              <a:lnSpc>
                <a:spcPct val="113000"/>
              </a:lnSpc>
              <a:buNone/>
            </a:pPr>
            <a:endParaRPr lang="en-US" sz="1200" dirty="0">
              <a:solidFill>
                <a:srgbClr val="1D1D1F"/>
              </a:solidFill>
              <a:latin typeface="Heebo Light" pitchFamily="34" charset="0"/>
              <a:ea typeface="Heebo Light" pitchFamily="34" charset="-122"/>
              <a:cs typeface="Heebo Light" pitchFamily="34" charset="-120"/>
            </a:endParaRPr>
          </a:p>
          <a:p>
            <a:pPr marL="0" indent="0" algn="ctr">
              <a:lnSpc>
                <a:spcPct val="113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Grupo 2 · Donizeti Almeida · Fabrício Andrade · Nikolas Nagy · Tiago Alexandre Esteves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18312"/>
            <a:ext cx="6039989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36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767447"/>
            <a:ext cx="5430404" cy="1325761"/>
          </a:xfrm>
          <a:prstGeom prst="rect">
            <a:avLst/>
          </a:prstGeom>
          <a:noFill/>
          <a:ln/>
        </p:spPr>
        <p:txBody>
          <a:bodyPr wrap="square" lIns="0" tIns="114297" rIns="0" bIns="114297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 papel ainda é o sistema de inspeção</a:t>
            </a:r>
            <a:endParaRPr lang="en-US" sz="3600" b="1" dirty="0">
              <a:solidFill>
                <a:srgbClr val="562142"/>
              </a:solidFill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375286"/>
            <a:ext cx="444489" cy="444500"/>
          </a:xfrm>
          <a:prstGeom prst="rect">
            <a:avLst/>
          </a:prstGeom>
          <a:ln>
            <a:noFill/>
          </a:ln>
        </p:spPr>
      </p:pic>
      <p:sp>
        <p:nvSpPr>
          <p:cNvPr id="5" name="Text 2"/>
          <p:cNvSpPr/>
          <p:nvPr/>
        </p:nvSpPr>
        <p:spPr>
          <a:xfrm>
            <a:off x="609585" y="2922942"/>
            <a:ext cx="1708504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Planilhas soltas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09585" y="3342608"/>
            <a:ext cx="1708504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Planilhas soltas e formulários físicos em campo.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0485" y="2375286"/>
            <a:ext cx="444489" cy="444500"/>
          </a:xfrm>
          <a:prstGeom prst="rect">
            <a:avLst/>
          </a:prstGeom>
          <a:ln>
            <a:noFill/>
          </a:ln>
        </p:spPr>
      </p:pic>
      <p:sp>
        <p:nvSpPr>
          <p:cNvPr id="8" name="Text 4"/>
          <p:cNvSpPr/>
          <p:nvPr/>
        </p:nvSpPr>
        <p:spPr>
          <a:xfrm>
            <a:off x="2470485" y="2941441"/>
            <a:ext cx="1708504" cy="662781"/>
          </a:xfrm>
          <a:prstGeom prst="rect">
            <a:avLst/>
          </a:prstGeom>
          <a:noFill/>
          <a:ln/>
        </p:spPr>
        <p:txBody>
          <a:bodyPr wrap="square" lIns="0" tIns="57149" rIns="0" bIns="57149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Sem padrão único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2470485" y="3342608"/>
            <a:ext cx="1708504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Evidências sem padrão único de registro.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1385" y="2375286"/>
            <a:ext cx="444489" cy="444500"/>
          </a:xfrm>
          <a:prstGeom prst="rect">
            <a:avLst/>
          </a:prstGeom>
          <a:ln>
            <a:noFill/>
          </a:ln>
        </p:spPr>
      </p:pic>
      <p:sp>
        <p:nvSpPr>
          <p:cNvPr id="11" name="Text 6"/>
          <p:cNvSpPr/>
          <p:nvPr/>
        </p:nvSpPr>
        <p:spPr>
          <a:xfrm>
            <a:off x="4331385" y="2888904"/>
            <a:ext cx="1708603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Difícil rastrear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4331385" y="3342608"/>
            <a:ext cx="1708603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Não conformidades difíceis de rastrear.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09585" y="4586950"/>
            <a:ext cx="5430404" cy="684510"/>
          </a:xfrm>
          <a:prstGeom prst="roundRect">
            <a:avLst>
              <a:gd name="adj" fmla="val 23377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9"/>
          <p:cNvSpPr/>
          <p:nvPr/>
        </p:nvSpPr>
        <p:spPr>
          <a:xfrm>
            <a:off x="1054074" y="4809200"/>
            <a:ext cx="5684398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Resultado:</a:t>
            </a: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retrabalho e risco de perder prazos regulatórios.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09585" y="5608985"/>
            <a:ext cx="6893622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6C6C6C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O problema não é apenas registrar: é transformar a inspeção em um fluxo confiável.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6663" y="0"/>
            <a:ext cx="5085032" cy="68580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77895" y="6469261"/>
            <a:ext cx="67893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36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 PROPOSTA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795298"/>
            <a:ext cx="10972526" cy="1325761"/>
          </a:xfrm>
          <a:prstGeom prst="rect">
            <a:avLst/>
          </a:prstGeom>
          <a:noFill/>
          <a:ln/>
        </p:spPr>
        <p:txBody>
          <a:bodyPr wrap="square" lIns="0" tIns="114297" rIns="0" bIns="114297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 auditor precisa de um fluxo digital, não de mais uma planilha</a:t>
            </a:r>
            <a:endParaRPr lang="en-US" sz="3600" b="1" dirty="0"/>
          </a:p>
        </p:txBody>
      </p:sp>
      <p:sp>
        <p:nvSpPr>
          <p:cNvPr id="4" name="Text 2"/>
          <p:cNvSpPr/>
          <p:nvPr/>
        </p:nvSpPr>
        <p:spPr>
          <a:xfrm>
            <a:off x="609585" y="2113756"/>
            <a:ext cx="10972526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Um único caminho no celular, do checklist ao resumo dos apontamentos, já funcionando neste primeiro incremento.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2717602"/>
            <a:ext cx="3454314" cy="2073771"/>
          </a:xfrm>
          <a:prstGeom prst="roundRect">
            <a:avLst>
              <a:gd name="adj" fmla="val 7716"/>
            </a:avLst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2946202"/>
            <a:ext cx="444489" cy="444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8179" y="3425309"/>
            <a:ext cx="2997125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Usuário principal</a:t>
            </a:r>
            <a:endParaRPr lang="en-US" sz="1800" b="1" dirty="0">
              <a:solidFill>
                <a:srgbClr val="562142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838179" y="3842742"/>
            <a:ext cx="2997125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Auditor fiscal ou interno em atividade in loco.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4368691" y="2717602"/>
            <a:ext cx="3454314" cy="2073771"/>
          </a:xfrm>
          <a:prstGeom prst="roundRect">
            <a:avLst>
              <a:gd name="adj" fmla="val 7716"/>
            </a:avLst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285" y="2946202"/>
            <a:ext cx="444489" cy="4445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97285" y="3425309"/>
            <a:ext cx="2997125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Objetivo</a:t>
            </a:r>
            <a:endParaRPr lang="en-US" sz="1800" b="1" dirty="0">
              <a:solidFill>
                <a:srgbClr val="562142"/>
              </a:solidFill>
            </a:endParaRPr>
          </a:p>
        </p:txBody>
      </p:sp>
      <p:sp>
        <p:nvSpPr>
          <p:cNvPr id="12" name="Text 8"/>
          <p:cNvSpPr/>
          <p:nvPr/>
        </p:nvSpPr>
        <p:spPr>
          <a:xfrm>
            <a:off x="4597285" y="3842742"/>
            <a:ext cx="2997125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Checklist por categoria no celular, com acesso do auditor por PIN.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" name="Shape 9"/>
          <p:cNvSpPr/>
          <p:nvPr/>
        </p:nvSpPr>
        <p:spPr>
          <a:xfrm>
            <a:off x="8127797" y="2717602"/>
            <a:ext cx="3454314" cy="2073771"/>
          </a:xfrm>
          <a:prstGeom prst="roundRect">
            <a:avLst>
              <a:gd name="adj" fmla="val 7716"/>
            </a:avLst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6391" y="2946202"/>
            <a:ext cx="444489" cy="4445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56391" y="3425309"/>
            <a:ext cx="2997125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Resultado esperado</a:t>
            </a:r>
            <a:endParaRPr lang="en-US" sz="1800" b="1" dirty="0">
              <a:solidFill>
                <a:srgbClr val="562142"/>
              </a:solidFill>
            </a:endParaRPr>
          </a:p>
        </p:txBody>
      </p:sp>
      <p:sp>
        <p:nvSpPr>
          <p:cNvPr id="16" name="Text 11"/>
          <p:cNvSpPr/>
          <p:nvPr/>
        </p:nvSpPr>
        <p:spPr>
          <a:xfrm>
            <a:off x="8356391" y="3842742"/>
            <a:ext cx="2997125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Foto como evidência, não conformidade com prazo e resumo por status.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7" name="Text 12"/>
          <p:cNvSpPr/>
          <p:nvPr/>
        </p:nvSpPr>
        <p:spPr>
          <a:xfrm>
            <a:off x="304792" y="4915198"/>
            <a:ext cx="1158211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6C6C6C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Categorias e itens ainda são simulados até validar com o stakeholder.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1944547" y="6469261"/>
            <a:ext cx="24714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36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PRIORIZAÇÃO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795298"/>
            <a:ext cx="10972526" cy="777180"/>
          </a:xfrm>
          <a:prstGeom prst="rect">
            <a:avLst/>
          </a:prstGeom>
          <a:noFill/>
          <a:ln/>
        </p:spPr>
        <p:txBody>
          <a:bodyPr wrap="none" lIns="0" tIns="114297" rIns="0" bIns="114297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 MVP protege o fluxo essencial</a:t>
            </a:r>
            <a:endParaRPr lang="en-US" sz="3600" b="1" dirty="0"/>
          </a:p>
        </p:txBody>
      </p:sp>
      <p:sp>
        <p:nvSpPr>
          <p:cNvPr id="4" name="Text 2"/>
          <p:cNvSpPr/>
          <p:nvPr/>
        </p:nvSpPr>
        <p:spPr>
          <a:xfrm>
            <a:off x="609585" y="1565176"/>
            <a:ext cx="1158211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MoSCoW organiza as prioridades; o núcleo Must Have está implementado, com dados simulados.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2500067"/>
            <a:ext cx="3454314" cy="2423319"/>
          </a:xfrm>
          <a:prstGeom prst="roundRect">
            <a:avLst>
              <a:gd name="adj" fmla="val 6603"/>
            </a:avLst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30835" y="2781793"/>
            <a:ext cx="803898" cy="175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chemeClr val="bg2">
                    <a:lumMod val="50000"/>
                  </a:schemeClr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MUST HAVE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38179" y="3028010"/>
            <a:ext cx="2997125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 núcleo do fluxo</a:t>
            </a:r>
            <a:endParaRPr lang="en-US" sz="2000" b="1" dirty="0">
              <a:solidFill>
                <a:srgbClr val="562142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838179" y="3494735"/>
            <a:ext cx="2997125" cy="120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Checklist por categoria, foto de evidência, não conformidade com severidade, observação e prazo, e resumo dos apontamentos.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368691" y="2500067"/>
            <a:ext cx="3454314" cy="2423319"/>
          </a:xfrm>
          <a:prstGeom prst="roundRect">
            <a:avLst>
              <a:gd name="adj" fmla="val 6603"/>
            </a:avLst>
          </a:prstGeom>
          <a:solidFill>
            <a:srgbClr val="F2F2F2"/>
          </a:solidFill>
          <a:ln w="1905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616335" y="2717053"/>
            <a:ext cx="1147039" cy="305693"/>
          </a:xfrm>
          <a:prstGeom prst="roundRect">
            <a:avLst>
              <a:gd name="adj" fmla="val 41876"/>
            </a:avLst>
          </a:prstGeom>
          <a:noFill/>
          <a:ln w="6350">
            <a:solidFill>
              <a:srgbClr val="6C6C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722992" y="2770333"/>
            <a:ext cx="1543309" cy="199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SHOULD HAVE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6335" y="3047060"/>
            <a:ext cx="2959026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Depois do feedback</a:t>
            </a:r>
            <a:endParaRPr lang="en-US" sz="2000" b="1" dirty="0">
              <a:solidFill>
                <a:srgbClr val="562142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616335" y="3513785"/>
            <a:ext cx="2959026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Notificações locais de prazos, movidas para uma versão futura após o feedback.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27797" y="2500067"/>
            <a:ext cx="3454314" cy="2423319"/>
          </a:xfrm>
          <a:prstGeom prst="roundRect">
            <a:avLst>
              <a:gd name="adj" fmla="val 6603"/>
            </a:avLst>
          </a:prstGeom>
          <a:solidFill>
            <a:srgbClr val="F2F2F2"/>
          </a:solidFill>
          <a:ln w="1905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8375440" y="2714476"/>
            <a:ext cx="1054272" cy="305693"/>
          </a:xfrm>
          <a:prstGeom prst="roundRect">
            <a:avLst>
              <a:gd name="adj" fmla="val 41876"/>
            </a:avLst>
          </a:prstGeom>
          <a:noFill/>
          <a:ln w="6350">
            <a:solidFill>
              <a:srgbClr val="6C6C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482098" y="2767756"/>
            <a:ext cx="1450542" cy="199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COULD HAVE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75440" y="3047060"/>
            <a:ext cx="2959026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Próximo ciclo</a:t>
            </a:r>
            <a:endParaRPr lang="en-US" sz="2000" b="1" dirty="0">
              <a:solidFill>
                <a:srgbClr val="562142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8375440" y="3513785"/>
            <a:ext cx="2959026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Exportação de relatórios em PDF, planejada para o próximo ciclo.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944547" y="6469261"/>
            <a:ext cx="24714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0278B94C-F3DB-DDB6-A810-2CE24D4B8860}"/>
              </a:ext>
            </a:extLst>
          </p:cNvPr>
          <p:cNvSpPr/>
          <p:nvPr/>
        </p:nvSpPr>
        <p:spPr>
          <a:xfrm>
            <a:off x="838179" y="2716855"/>
            <a:ext cx="1147039" cy="305693"/>
          </a:xfrm>
          <a:prstGeom prst="roundRect">
            <a:avLst>
              <a:gd name="adj" fmla="val 41876"/>
            </a:avLst>
          </a:prstGeom>
          <a:noFill/>
          <a:ln w="6350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17">
            <a:extLst>
              <a:ext uri="{FF2B5EF4-FFF2-40B4-BE49-F238E27FC236}">
                <a16:creationId xmlns:a16="http://schemas.microsoft.com/office/drawing/2014/main" id="{2E010EFA-0420-2294-C616-F38D9FD24987}"/>
              </a:ext>
            </a:extLst>
          </p:cNvPr>
          <p:cNvSpPr/>
          <p:nvPr/>
        </p:nvSpPr>
        <p:spPr>
          <a:xfrm>
            <a:off x="9631420" y="1929011"/>
            <a:ext cx="1950691" cy="3238202"/>
          </a:xfrm>
          <a:prstGeom prst="roundRect">
            <a:avLst>
              <a:gd name="adj" fmla="val 820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" name="Text 0"/>
          <p:cNvSpPr/>
          <p:nvPr/>
        </p:nvSpPr>
        <p:spPr>
          <a:xfrm>
            <a:off x="609585" y="609600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36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JORNADA DO AUDITOR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795298"/>
            <a:ext cx="10972526" cy="777180"/>
          </a:xfrm>
          <a:prstGeom prst="rect">
            <a:avLst/>
          </a:prstGeom>
          <a:noFill/>
          <a:ln/>
        </p:spPr>
        <p:txBody>
          <a:bodyPr wrap="none" lIns="0" tIns="114297" rIns="0" bIns="114297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Da categoria ao resumo em cinco passos</a:t>
            </a:r>
            <a:endParaRPr lang="en-US" sz="3600" b="1" dirty="0"/>
          </a:p>
        </p:txBody>
      </p:sp>
      <p:sp>
        <p:nvSpPr>
          <p:cNvPr id="4" name="Text 2"/>
          <p:cNvSpPr/>
          <p:nvPr/>
        </p:nvSpPr>
        <p:spPr>
          <a:xfrm>
            <a:off x="609585" y="1565176"/>
            <a:ext cx="1158211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Fluxo implementado de ponta a ponta, da Home ao resumo dos apontamentos.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1929011"/>
            <a:ext cx="1950691" cy="3238202"/>
          </a:xfrm>
          <a:prstGeom prst="roundRect">
            <a:avLst>
              <a:gd name="adj" fmla="val 820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38179" y="2157611"/>
            <a:ext cx="81228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562142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01</a:t>
            </a:r>
            <a:endParaRPr lang="en-US" sz="1400" dirty="0">
              <a:solidFill>
                <a:srgbClr val="562142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838179" y="2406551"/>
            <a:ext cx="1493403" cy="19050"/>
          </a:xfrm>
          <a:prstGeom prst="rect">
            <a:avLst/>
          </a:prstGeom>
          <a:solidFill>
            <a:srgbClr val="1D1D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89464" y="2487493"/>
            <a:ext cx="1721997" cy="662781"/>
          </a:xfrm>
          <a:prstGeom prst="rect">
            <a:avLst/>
          </a:prstGeom>
          <a:noFill/>
          <a:ln/>
        </p:spPr>
        <p:txBody>
          <a:bodyPr wrap="square" lIns="0" tIns="57149" rIns="0" bIns="57149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 err="1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Acesso</a:t>
            </a:r>
            <a:r>
              <a:rPr lang="en-US" sz="180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e </a:t>
            </a:r>
            <a:r>
              <a:rPr lang="en-US" sz="1800" dirty="0" err="1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Gestão</a:t>
            </a:r>
            <a:endParaRPr lang="en-US" sz="1800" dirty="0">
              <a:solidFill>
                <a:srgbClr val="562142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2864969" y="1929011"/>
            <a:ext cx="1950691" cy="3238202"/>
          </a:xfrm>
          <a:prstGeom prst="roundRect">
            <a:avLst>
              <a:gd name="adj" fmla="val 820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093563" y="2157611"/>
            <a:ext cx="81228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562142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02</a:t>
            </a:r>
            <a:endParaRPr lang="en-US" sz="1400" dirty="0">
              <a:solidFill>
                <a:srgbClr val="562142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3093563" y="2406551"/>
            <a:ext cx="1493403" cy="19050"/>
          </a:xfrm>
          <a:prstGeom prst="rect">
            <a:avLst/>
          </a:prstGeom>
          <a:solidFill>
            <a:srgbClr val="1D1D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093563" y="2487493"/>
            <a:ext cx="1493502" cy="662781"/>
          </a:xfrm>
          <a:prstGeom prst="rect">
            <a:avLst/>
          </a:prstGeom>
          <a:noFill/>
          <a:ln/>
        </p:spPr>
        <p:txBody>
          <a:bodyPr wrap="square" lIns="0" tIns="57149" rIns="0" bIns="57149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Selecionar categoria</a:t>
            </a:r>
            <a:endParaRPr lang="en-US" sz="1800" dirty="0">
              <a:solidFill>
                <a:srgbClr val="562142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838179" y="3179167"/>
            <a:ext cx="1493502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pt-BR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Visão geral no painel e desbloqueio da sessão via PIN.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20353" y="1929011"/>
            <a:ext cx="1950889" cy="3238202"/>
          </a:xfrm>
          <a:prstGeom prst="roundRect">
            <a:avLst>
              <a:gd name="adj" fmla="val 820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348947" y="2157611"/>
            <a:ext cx="81228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562142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03</a:t>
            </a:r>
            <a:endParaRPr lang="en-US" sz="1400" dirty="0">
              <a:solidFill>
                <a:srgbClr val="562142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348947" y="2406551"/>
            <a:ext cx="1493701" cy="19050"/>
          </a:xfrm>
          <a:prstGeom prst="rect">
            <a:avLst/>
          </a:prstGeom>
          <a:solidFill>
            <a:srgbClr val="1D1D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348947" y="2487493"/>
            <a:ext cx="1493701" cy="662781"/>
          </a:xfrm>
          <a:prstGeom prst="rect">
            <a:avLst/>
          </a:prstGeom>
          <a:noFill/>
          <a:ln/>
        </p:spPr>
        <p:txBody>
          <a:bodyPr wrap="square" lIns="0" tIns="57149" rIns="0" bIns="57149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Verificar cada item</a:t>
            </a:r>
            <a:endParaRPr lang="en-US" sz="1800" dirty="0">
              <a:solidFill>
                <a:srgbClr val="562142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5348947" y="3179167"/>
            <a:ext cx="1493701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Conforme (OK) ou Não Conforme (Falha).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75936" y="1929011"/>
            <a:ext cx="1950691" cy="3238202"/>
          </a:xfrm>
          <a:prstGeom prst="roundRect">
            <a:avLst>
              <a:gd name="adj" fmla="val 820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604530" y="2157611"/>
            <a:ext cx="81228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562142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04</a:t>
            </a:r>
            <a:endParaRPr lang="en-US" sz="1400" dirty="0">
              <a:solidFill>
                <a:srgbClr val="562142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604530" y="2406551"/>
            <a:ext cx="1493403" cy="19050"/>
          </a:xfrm>
          <a:prstGeom prst="rect">
            <a:avLst/>
          </a:prstGeom>
          <a:solidFill>
            <a:srgbClr val="1D1D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604530" y="2487493"/>
            <a:ext cx="1493502" cy="662781"/>
          </a:xfrm>
          <a:prstGeom prst="rect">
            <a:avLst/>
          </a:prstGeom>
          <a:noFill/>
          <a:ln/>
        </p:spPr>
        <p:txBody>
          <a:bodyPr wrap="square" lIns="0" tIns="57149" rIns="0" bIns="57149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Registrar evidência</a:t>
            </a:r>
            <a:endParaRPr lang="en-US" sz="1800" dirty="0">
              <a:solidFill>
                <a:srgbClr val="562142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7604530" y="3179167"/>
            <a:ext cx="1493502" cy="1759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Foto no item; na falha, severidade, observação e prazo.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859914" y="2157611"/>
            <a:ext cx="81228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562142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05</a:t>
            </a:r>
            <a:endParaRPr lang="en-US" sz="1400" dirty="0">
              <a:solidFill>
                <a:srgbClr val="562142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859914" y="2406551"/>
            <a:ext cx="1493502" cy="19050"/>
          </a:xfrm>
          <a:prstGeom prst="rect">
            <a:avLst/>
          </a:prstGeom>
          <a:solidFill>
            <a:srgbClr val="1D1D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9859914" y="2487493"/>
            <a:ext cx="1493602" cy="662781"/>
          </a:xfrm>
          <a:prstGeom prst="rect">
            <a:avLst/>
          </a:prstGeom>
          <a:noFill/>
          <a:ln/>
        </p:spPr>
        <p:txBody>
          <a:bodyPr wrap="square" lIns="0" tIns="57149" rIns="0" bIns="57149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Visualizar o resumo</a:t>
            </a:r>
            <a:endParaRPr lang="en-US" sz="1800" dirty="0">
              <a:solidFill>
                <a:srgbClr val="562142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9859914" y="3179167"/>
            <a:ext cx="1493602" cy="1279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Totais por status; o apontamento vai de pendente a resolvido.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944547" y="6469261"/>
            <a:ext cx="24714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02B7BAA1-CB09-833A-A791-52ACD0090F0E}"/>
              </a:ext>
            </a:extLst>
          </p:cNvPr>
          <p:cNvSpPr/>
          <p:nvPr/>
        </p:nvSpPr>
        <p:spPr>
          <a:xfrm>
            <a:off x="3081017" y="3188097"/>
            <a:ext cx="1493502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pt-BR" sz="140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Tributos federais, estaduais ou trabalhistas.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36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795298"/>
            <a:ext cx="10972526" cy="777180"/>
          </a:xfrm>
          <a:prstGeom prst="rect">
            <a:avLst/>
          </a:prstGeom>
          <a:noFill/>
          <a:ln/>
        </p:spPr>
        <p:txBody>
          <a:bodyPr wrap="none" lIns="0" tIns="114297" rIns="0" bIns="114297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Uma base Android simples para evoluir</a:t>
            </a:r>
            <a:endParaRPr lang="en-US" sz="3600" b="1" dirty="0"/>
          </a:p>
        </p:txBody>
      </p:sp>
      <p:sp>
        <p:nvSpPr>
          <p:cNvPr id="4" name="Text 2"/>
          <p:cNvSpPr/>
          <p:nvPr/>
        </p:nvSpPr>
        <p:spPr>
          <a:xfrm>
            <a:off x="609890" y="1518166"/>
            <a:ext cx="1158211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Compose, ViewModel e rotas tipadas mantêm a base simples de evoluir.</a:t>
            </a:r>
            <a:endParaRPr lang="en-US" sz="1400" dirty="0"/>
          </a:p>
        </p:txBody>
      </p:sp>
      <p:sp>
        <p:nvSpPr>
          <p:cNvPr id="41" name="Tela 1"/>
          <p:cNvSpPr/>
          <p:nvPr/>
        </p:nvSpPr>
        <p:spPr>
          <a:xfrm>
            <a:off x="609585" y="1950000"/>
            <a:ext cx="2300000" cy="700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/>
        </p:spPr>
        <p:txBody>
          <a:bodyPr wrap="square" lIns="45720" tIns="45720" rIns="45720" bIns="45720" rtlCol="0" anchor="ctr"/>
          <a:lstStyle/>
          <a:p>
            <a:pPr algn="ctr"/>
            <a:r>
              <a:rPr lang="pt-BR" sz="1300" b="1" dirty="0">
                <a:solidFill>
                  <a:srgbClr val="1F1F1F"/>
                </a:solidFill>
                <a:latin typeface="Inter Tight"/>
              </a:rPr>
              <a:t>TelaHome</a:t>
            </a:r>
          </a:p>
          <a:p>
            <a:pPr algn="ctr"/>
            <a:r>
              <a:rPr lang="pt-BR" sz="1000" dirty="0">
                <a:solidFill>
                  <a:srgbClr val="1F1F1F"/>
                </a:solidFill>
                <a:latin typeface="Heebo Light"/>
              </a:rPr>
              <a:t>painel e PIN</a:t>
            </a:r>
          </a:p>
        </p:txBody>
      </p:sp>
      <p:sp>
        <p:nvSpPr>
          <p:cNvPr id="42" name="Seta"/>
          <p:cNvSpPr/>
          <p:nvPr/>
        </p:nvSpPr>
        <p:spPr>
          <a:xfrm>
            <a:off x="3015006" y="2160000"/>
            <a:ext cx="380000" cy="280000"/>
          </a:xfrm>
          <a:prstGeom prst="rightArrow">
            <a:avLst/>
          </a:prstGeom>
          <a:solidFill>
            <a:srgbClr val="56214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la 2"/>
          <p:cNvSpPr/>
          <p:nvPr/>
        </p:nvSpPr>
        <p:spPr>
          <a:xfrm>
            <a:off x="3500427" y="1950000"/>
            <a:ext cx="2300000" cy="700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/>
        </p:spPr>
        <p:txBody>
          <a:bodyPr wrap="square" lIns="45720" tIns="45720" rIns="45720" bIns="45720" rtlCol="0" anchor="ctr"/>
          <a:lstStyle/>
          <a:p>
            <a:pPr algn="ctr"/>
            <a:r>
              <a:rPr lang="pt-BR" sz="1300" b="1" dirty="0">
                <a:solidFill>
                  <a:srgbClr val="1F1F1F"/>
                </a:solidFill>
                <a:latin typeface="Inter Tight"/>
              </a:rPr>
              <a:t>TelaCategorias</a:t>
            </a:r>
          </a:p>
          <a:p>
            <a:pPr algn="ctr"/>
            <a:r>
              <a:rPr lang="pt-BR" sz="1000" dirty="0">
                <a:solidFill>
                  <a:srgbClr val="1F1F1F"/>
                </a:solidFill>
                <a:latin typeface="Heebo Light"/>
              </a:rPr>
              <a:t>escolha da categoria</a:t>
            </a:r>
          </a:p>
        </p:txBody>
      </p:sp>
      <p:sp>
        <p:nvSpPr>
          <p:cNvPr id="44" name="Seta"/>
          <p:cNvSpPr/>
          <p:nvPr/>
        </p:nvSpPr>
        <p:spPr>
          <a:xfrm>
            <a:off x="5905848" y="2160000"/>
            <a:ext cx="380000" cy="280000"/>
          </a:xfrm>
          <a:prstGeom prst="rightArrow">
            <a:avLst/>
          </a:prstGeom>
          <a:solidFill>
            <a:srgbClr val="56214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la 3"/>
          <p:cNvSpPr/>
          <p:nvPr/>
        </p:nvSpPr>
        <p:spPr>
          <a:xfrm>
            <a:off x="6391269" y="1950000"/>
            <a:ext cx="2300000" cy="700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/>
        </p:spPr>
        <p:txBody>
          <a:bodyPr wrap="square" lIns="45720" tIns="45720" rIns="45720" bIns="45720" rtlCol="0" anchor="ctr"/>
          <a:lstStyle/>
          <a:p>
            <a:pPr algn="ctr"/>
            <a:r>
              <a:rPr lang="pt-BR" sz="1300" b="1" dirty="0">
                <a:solidFill>
                  <a:srgbClr val="1F1F1F"/>
                </a:solidFill>
                <a:latin typeface="Inter Tight"/>
              </a:rPr>
              <a:t>TelaChecklistAuditoria</a:t>
            </a:r>
          </a:p>
          <a:p>
            <a:pPr algn="ctr"/>
            <a:r>
              <a:rPr lang="pt-BR" sz="1000" dirty="0">
                <a:solidFill>
                  <a:srgbClr val="1F1F1F"/>
                </a:solidFill>
                <a:latin typeface="Heebo Light"/>
              </a:rPr>
              <a:t>OK · Foto · Falha</a:t>
            </a:r>
          </a:p>
        </p:txBody>
      </p:sp>
      <p:sp>
        <p:nvSpPr>
          <p:cNvPr id="46" name="Seta"/>
          <p:cNvSpPr/>
          <p:nvPr/>
        </p:nvSpPr>
        <p:spPr>
          <a:xfrm>
            <a:off x="8796690" y="2160000"/>
            <a:ext cx="380000" cy="280000"/>
          </a:xfrm>
          <a:prstGeom prst="rightArrow">
            <a:avLst/>
          </a:prstGeom>
          <a:solidFill>
            <a:srgbClr val="56214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la 4"/>
          <p:cNvSpPr/>
          <p:nvPr/>
        </p:nvSpPr>
        <p:spPr>
          <a:xfrm>
            <a:off x="9282111" y="1950000"/>
            <a:ext cx="2300000" cy="700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/>
        </p:spPr>
        <p:txBody>
          <a:bodyPr wrap="square" lIns="45720" tIns="45720" rIns="45720" bIns="45720" rtlCol="0" anchor="ctr"/>
          <a:lstStyle/>
          <a:p>
            <a:pPr algn="ctr"/>
            <a:r>
              <a:rPr lang="pt-BR" sz="1300" b="1" dirty="0">
                <a:solidFill>
                  <a:srgbClr val="1F1F1F"/>
                </a:solidFill>
                <a:latin typeface="Inter Tight"/>
              </a:rPr>
              <a:t>TelaResumoAuditoria</a:t>
            </a:r>
          </a:p>
          <a:p>
            <a:pPr algn="ctr"/>
            <a:r>
              <a:rPr lang="pt-BR" sz="1000" dirty="0">
                <a:solidFill>
                  <a:srgbClr val="1F1F1F"/>
                </a:solidFill>
                <a:latin typeface="Heebo Light"/>
              </a:rPr>
              <a:t>status dos apontamentos</a:t>
            </a:r>
          </a:p>
        </p:txBody>
      </p:sp>
      <p:sp>
        <p:nvSpPr>
          <p:cNvPr id="48" name="Seta"/>
          <p:cNvSpPr/>
          <p:nvPr/>
        </p:nvSpPr>
        <p:spPr>
          <a:xfrm>
            <a:off x="7401269" y="2680000"/>
            <a:ext cx="280000" cy="230000"/>
          </a:xfrm>
          <a:prstGeom prst="downArrow">
            <a:avLst/>
          </a:prstGeom>
          <a:solidFill>
            <a:srgbClr val="56214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Camera"/>
          <p:cNvSpPr/>
          <p:nvPr/>
        </p:nvSpPr>
        <p:spPr>
          <a:xfrm>
            <a:off x="5841269" y="2950000"/>
            <a:ext cx="1650000" cy="620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/>
        </p:spPr>
        <p:txBody>
          <a:bodyPr wrap="square" lIns="45720" tIns="45720" rIns="45720" bIns="45720" rtlCol="0" anchor="ctr"/>
          <a:lstStyle/>
          <a:p>
            <a:pPr algn="ctr"/>
            <a:r>
              <a:rPr lang="pt-BR" sz="1300" b="1" dirty="0">
                <a:solidFill>
                  <a:srgbClr val="1F1F1F"/>
                </a:solidFill>
                <a:latin typeface="Inter Tight"/>
              </a:rPr>
              <a:t>Câmera</a:t>
            </a:r>
          </a:p>
          <a:p>
            <a:pPr algn="ctr"/>
            <a:r>
              <a:rPr lang="pt-BR" sz="1000" dirty="0">
                <a:solidFill>
                  <a:srgbClr val="1F1F1F"/>
                </a:solidFill>
                <a:latin typeface="Heebo Light"/>
              </a:rPr>
              <a:t>FileProvider</a:t>
            </a:r>
          </a:p>
        </p:txBody>
      </p:sp>
      <p:sp>
        <p:nvSpPr>
          <p:cNvPr id="50" name="Dialog"/>
          <p:cNvSpPr/>
          <p:nvPr/>
        </p:nvSpPr>
        <p:spPr>
          <a:xfrm>
            <a:off x="7591269" y="2950000"/>
            <a:ext cx="1650000" cy="620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/>
        </p:spPr>
        <p:txBody>
          <a:bodyPr wrap="square" lIns="45720" tIns="45720" rIns="45720" bIns="45720" rtlCol="0" anchor="ctr"/>
          <a:lstStyle/>
          <a:p>
            <a:pPr algn="ctr"/>
            <a:r>
              <a:rPr lang="pt-BR" sz="1300" b="1" dirty="0">
                <a:solidFill>
                  <a:srgbClr val="1F1F1F"/>
                </a:solidFill>
                <a:latin typeface="Inter Tight"/>
              </a:rPr>
              <a:t>Dialog de falha</a:t>
            </a:r>
          </a:p>
          <a:p>
            <a:pPr algn="ctr"/>
            <a:r>
              <a:rPr lang="pt-BR" sz="1000" dirty="0">
                <a:solidFill>
                  <a:srgbClr val="1F1F1F"/>
                </a:solidFill>
                <a:latin typeface="Heebo Light"/>
              </a:rPr>
              <a:t>severidade e prazo</a:t>
            </a:r>
          </a:p>
        </p:txBody>
      </p:sp>
      <p:sp>
        <p:nvSpPr>
          <p:cNvPr id="51" name="Seta"/>
          <p:cNvSpPr/>
          <p:nvPr/>
        </p:nvSpPr>
        <p:spPr>
          <a:xfrm>
            <a:off x="7401269" y="3600000"/>
            <a:ext cx="280000" cy="230000"/>
          </a:xfrm>
          <a:prstGeom prst="downArrow">
            <a:avLst/>
          </a:prstGeom>
          <a:solidFill>
            <a:srgbClr val="56214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Dados"/>
          <p:cNvSpPr/>
          <p:nvPr/>
        </p:nvSpPr>
        <p:spPr>
          <a:xfrm>
            <a:off x="3877952" y="3937726"/>
            <a:ext cx="7326634" cy="1050000"/>
          </a:xfrm>
          <a:prstGeom prst="roundRect">
            <a:avLst>
              <a:gd name="adj" fmla="val 12000"/>
            </a:avLst>
          </a:prstGeom>
          <a:solidFill>
            <a:srgbClr val="562142"/>
          </a:solidFill>
          <a:ln/>
        </p:spPr>
        <p:txBody>
          <a:bodyPr wrap="square" lIns="45720" tIns="45720" rIns="45720" bIns="45720" rtlCol="0" anchor="ctr"/>
          <a:lstStyle/>
          <a:p>
            <a:pPr algn="ctr"/>
            <a:r>
              <a:rPr lang="pt-BR" sz="1600" b="1" dirty="0">
                <a:solidFill>
                  <a:srgbClr val="FFFFFF"/>
                </a:solidFill>
                <a:latin typeface="Inter Tight"/>
              </a:rPr>
              <a:t>AuditoriaViewModel  →  AuditoriaRepository</a:t>
            </a:r>
          </a:p>
          <a:p>
            <a:pPr algn="ctr"/>
            <a:r>
              <a:rPr lang="pt-BR" sz="1300" dirty="0">
                <a:solidFill>
                  <a:srgbClr val="FFFFFF"/>
                </a:solidFill>
                <a:latin typeface="Heebo Light"/>
              </a:rPr>
              <a:t>Estado em Compose · SharedPreferences (JSON) · fotos em arquivo</a:t>
            </a:r>
          </a:p>
        </p:txBody>
      </p:sp>
      <p:sp>
        <p:nvSpPr>
          <p:cNvPr id="6" name="Shape 3"/>
          <p:cNvSpPr/>
          <p:nvPr/>
        </p:nvSpPr>
        <p:spPr>
          <a:xfrm>
            <a:off x="609585" y="5227737"/>
            <a:ext cx="2133547" cy="1222276"/>
          </a:xfrm>
          <a:prstGeom prst="roundRect">
            <a:avLst>
              <a:gd name="adj" fmla="val 1309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838179" y="5456337"/>
            <a:ext cx="1904952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AMBIENTE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38179" y="5741392"/>
            <a:ext cx="1904952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6C6C6C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Android Studio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895428" y="5227737"/>
            <a:ext cx="3200419" cy="1222276"/>
          </a:xfrm>
          <a:prstGeom prst="roundRect">
            <a:avLst>
              <a:gd name="adj" fmla="val 1309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3124023" y="5456337"/>
            <a:ext cx="297182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PACOTE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124023" y="5741392"/>
            <a:ext cx="2971825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6C6C6C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com.example.auditoriafiscal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48244" y="5227737"/>
            <a:ext cx="5333867" cy="1222276"/>
          </a:xfrm>
          <a:prstGeom prst="roundRect">
            <a:avLst>
              <a:gd name="adj" fmla="val 1309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6476838" y="5456337"/>
            <a:ext cx="5105272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CAMADAS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76838" y="5741392"/>
            <a:ext cx="4876678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6C6C6C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UI Compose · ViewModel · Repositório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944547" y="6469261"/>
            <a:ext cx="24714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545332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36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MODELO DE DADOS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795298"/>
            <a:ext cx="4843738" cy="2422922"/>
          </a:xfrm>
          <a:prstGeom prst="rect">
            <a:avLst/>
          </a:prstGeom>
          <a:noFill/>
          <a:ln/>
        </p:spPr>
        <p:txBody>
          <a:bodyPr wrap="square" lIns="0" tIns="114297" rIns="0" bIns="114297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 classe NaoConformidade transforma uma ocorrência em dado</a:t>
            </a:r>
            <a:endParaRPr lang="en-US" sz="3600" b="1" dirty="0"/>
          </a:p>
        </p:txBody>
      </p:sp>
      <p:sp>
        <p:nvSpPr>
          <p:cNvPr id="4" name="Text 2"/>
          <p:cNvSpPr/>
          <p:nvPr/>
        </p:nvSpPr>
        <p:spPr>
          <a:xfrm>
            <a:off x="609585" y="2991347"/>
            <a:ext cx="4843738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 entidade guarda a ocorrência, o prazo e o estado do apontamento: pendente, em andamento ou resolvido.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3698254"/>
            <a:ext cx="444489" cy="444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4222129"/>
            <a:ext cx="1538348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idItem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0329" y="3698254"/>
            <a:ext cx="444489" cy="444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300329" y="4222129"/>
            <a:ext cx="148755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nivelSeveridade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0275" y="3698254"/>
            <a:ext cx="444489" cy="4445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940275" y="4222129"/>
            <a:ext cx="1513048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observacao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5" y="4731047"/>
            <a:ext cx="444489" cy="4445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09585" y="5254922"/>
            <a:ext cx="1538348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prazoResolucao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00329" y="4731047"/>
            <a:ext cx="444489" cy="4445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300329" y="5254922"/>
            <a:ext cx="3152994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status = "Pendente"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609585" y="5833170"/>
            <a:ext cx="4843738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6C6C6C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Comportamentos:</a:t>
            </a: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adicionarEvidencia(foto: ByteArray) guarda a miniatura em memória; obterStatus() devolve o estado. A foto fica salva em arquivo.</a:t>
            </a:r>
            <a:endParaRPr lang="en-US" sz="1400" dirty="0"/>
          </a:p>
        </p:txBody>
      </p:sp>
      <p:sp>
        <p:nvSpPr>
          <p:cNvPr id="16" name="Shape 9"/>
          <p:cNvSpPr/>
          <p:nvPr/>
        </p:nvSpPr>
        <p:spPr>
          <a:xfrm>
            <a:off x="6519997" y="0"/>
            <a:ext cx="5671698" cy="6858000"/>
          </a:xfrm>
          <a:prstGeom prst="rect">
            <a:avLst/>
          </a:prstGeom>
          <a:solidFill>
            <a:srgbClr val="1D1D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0"/>
          <p:cNvSpPr/>
          <p:nvPr/>
        </p:nvSpPr>
        <p:spPr>
          <a:xfrm>
            <a:off x="6850189" y="304800"/>
            <a:ext cx="534150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36" dirty="0">
                <a:solidFill>
                  <a:srgbClr val="AFCBF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KOTLIN · DATA CLASS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6850189" y="718144"/>
            <a:ext cx="5011314" cy="4457403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2"/>
          <p:cNvSpPr/>
          <p:nvPr/>
        </p:nvSpPr>
        <p:spPr>
          <a:xfrm>
            <a:off x="7063504" y="896263"/>
            <a:ext cx="4584685" cy="3413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class NaoConformidade(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idItem: Int,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nivelSeveridade: String = "",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observacao: String = "",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prazoResolucao: String = "",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status: String = "Pendente",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@Transient val evidencias =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mutableListOf&lt;ByteArray&gt;()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fun adicionarEvidencia(foto: ByteArray) {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evidencias.add(foto)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fun obterStatus(): String = status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11944547" y="6469261"/>
            <a:ext cx="24714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100" spc="33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DEMONSTRAÇÃO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751742"/>
            <a:ext cx="10972526" cy="711200"/>
          </a:xfrm>
          <a:prstGeom prst="rect">
            <a:avLst/>
          </a:prstGeom>
          <a:noFill/>
          <a:ln/>
        </p:spPr>
        <p:txBody>
          <a:bodyPr wrap="none" lIns="0" tIns="104600" rIns="0" bIns="1046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Primeiro incremento rodando no emulador</a:t>
            </a:r>
            <a:endParaRPr lang="en-US" sz="3300" b="1" dirty="0"/>
          </a:p>
        </p:txBody>
      </p:sp>
      <p:sp>
        <p:nvSpPr>
          <p:cNvPr id="4" name="Text 2"/>
          <p:cNvSpPr/>
          <p:nvPr/>
        </p:nvSpPr>
        <p:spPr>
          <a:xfrm>
            <a:off x="609585" y="1469033"/>
            <a:ext cx="11582110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Fluxo completo no emulador: home, categorias, checklist com foto, não conformidade e resumo.</a:t>
            </a:r>
            <a:endParaRPr lang="en-US" sz="1300" dirty="0"/>
          </a:p>
        </p:txBody>
      </p:sp>
      <p:sp>
        <p:nvSpPr>
          <p:cNvPr id="20" name="Print 1"/>
          <p:cNvSpPr/>
          <p:nvPr/>
        </p:nvSpPr>
        <p:spPr>
          <a:xfrm>
            <a:off x="1190977" y="1850000"/>
            <a:ext cx="1532815" cy="3150000"/>
          </a:xfrm>
          <a:prstGeom prst="roundRect">
            <a:avLst>
              <a:gd name="adj" fmla="val 6000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chemeClr val="tx1"/>
            </a:solidFill>
            <a:prstDash val="solid"/>
          </a:ln>
        </p:spPr>
        <p:txBody>
          <a:bodyPr wrap="square" lIns="91440" tIns="91440" rIns="91440" bIns="91440" rtlCol="0" anchor="ctr"/>
          <a:lstStyle/>
          <a:p>
            <a:pPr algn="ctr"/>
            <a:endParaRPr lang="pt-BR" sz="1300" b="1" dirty="0">
              <a:solidFill>
                <a:srgbClr val="562142"/>
              </a:solidFill>
              <a:latin typeface="Inter Tight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09585" y="5150000"/>
            <a:ext cx="3555911" cy="1250000"/>
          </a:xfrm>
          <a:prstGeom prst="roundRect">
            <a:avLst>
              <a:gd name="adj" fmla="val 1127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838179" y="5340000"/>
            <a:ext cx="3098722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6C6C6C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Home e categorias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Painel com abas e PIN do auditor; categorias federais, estaduais e trabalhista.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17892" y="5150000"/>
            <a:ext cx="3555911" cy="1250000"/>
          </a:xfrm>
          <a:prstGeom prst="roundRect">
            <a:avLst>
              <a:gd name="adj" fmla="val 1127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4546486" y="5340000"/>
            <a:ext cx="3098722" cy="84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6C6C6C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Checklist e evidência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OK, Foto ou Falha por item; falha com severidade, observação e prazo.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944547" y="6469261"/>
            <a:ext cx="24714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F9FDEF79-7E7F-3CF1-F7C8-52FCB011EE87}"/>
              </a:ext>
            </a:extLst>
          </p:cNvPr>
          <p:cNvSpPr/>
          <p:nvPr/>
        </p:nvSpPr>
        <p:spPr>
          <a:xfrm>
            <a:off x="8026200" y="5150000"/>
            <a:ext cx="3555911" cy="1250000"/>
          </a:xfrm>
          <a:prstGeom prst="roundRect">
            <a:avLst>
              <a:gd name="adj" fmla="val 1127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2DADC48C-7424-ACA3-9DE8-BDBE5A7DD243}"/>
              </a:ext>
            </a:extLst>
          </p:cNvPr>
          <p:cNvSpPr/>
          <p:nvPr/>
        </p:nvSpPr>
        <p:spPr>
          <a:xfrm>
            <a:off x="8254794" y="5339999"/>
            <a:ext cx="3098722" cy="84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 err="1">
                <a:solidFill>
                  <a:schemeClr val="bg2">
                    <a:lumMod val="50000"/>
                  </a:schemeClr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Resumo</a:t>
            </a:r>
            <a:r>
              <a:rPr lang="en-US" sz="1300" b="1" dirty="0">
                <a:solidFill>
                  <a:schemeClr val="bg2">
                    <a:lumMod val="50000"/>
                  </a:schemeClr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e </a:t>
            </a:r>
            <a:r>
              <a:rPr lang="en-US" sz="1300" b="1" dirty="0" err="1">
                <a:solidFill>
                  <a:schemeClr val="bg2">
                    <a:lumMod val="50000"/>
                  </a:schemeClr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navegação</a:t>
            </a:r>
            <a:endParaRPr lang="en-US" sz="1300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Pendentes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,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em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andamento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e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resolvidos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;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rotas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tipadas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via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NavController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</a:t>
            </a:r>
            <a:endParaRPr lang="en-US" sz="13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6" name="Print 1">
            <a:extLst>
              <a:ext uri="{FF2B5EF4-FFF2-40B4-BE49-F238E27FC236}">
                <a16:creationId xmlns:a16="http://schemas.microsoft.com/office/drawing/2014/main" id="{991B4395-1899-FE77-B63D-D5FE1EEE893B}"/>
              </a:ext>
            </a:extLst>
          </p:cNvPr>
          <p:cNvSpPr/>
          <p:nvPr/>
        </p:nvSpPr>
        <p:spPr>
          <a:xfrm>
            <a:off x="3208912" y="1839688"/>
            <a:ext cx="1532815" cy="3150000"/>
          </a:xfrm>
          <a:prstGeom prst="roundRect">
            <a:avLst>
              <a:gd name="adj" fmla="val 6000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chemeClr val="tx1"/>
            </a:solidFill>
            <a:prstDash val="solid"/>
          </a:ln>
        </p:spPr>
        <p:txBody>
          <a:bodyPr wrap="square" lIns="91440" tIns="91440" rIns="91440" bIns="91440" rtlCol="0" anchor="ctr"/>
          <a:lstStyle/>
          <a:p>
            <a:pPr algn="ctr"/>
            <a:endParaRPr lang="pt-BR" sz="1300" b="1" dirty="0">
              <a:solidFill>
                <a:srgbClr val="562142"/>
              </a:solidFill>
              <a:latin typeface="Inter Tight"/>
            </a:endParaRPr>
          </a:p>
        </p:txBody>
      </p:sp>
      <p:sp>
        <p:nvSpPr>
          <p:cNvPr id="17" name="Print 1">
            <a:extLst>
              <a:ext uri="{FF2B5EF4-FFF2-40B4-BE49-F238E27FC236}">
                <a16:creationId xmlns:a16="http://schemas.microsoft.com/office/drawing/2014/main" id="{9D510131-2B65-15C7-926F-BE2B34803741}"/>
              </a:ext>
            </a:extLst>
          </p:cNvPr>
          <p:cNvSpPr/>
          <p:nvPr/>
        </p:nvSpPr>
        <p:spPr>
          <a:xfrm>
            <a:off x="5369871" y="1850000"/>
            <a:ext cx="1532815" cy="3150000"/>
          </a:xfrm>
          <a:prstGeom prst="roundRect">
            <a:avLst>
              <a:gd name="adj" fmla="val 6000"/>
            </a:avLst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chemeClr val="tx1"/>
            </a:solidFill>
            <a:prstDash val="solid"/>
          </a:ln>
        </p:spPr>
        <p:txBody>
          <a:bodyPr wrap="square" lIns="91440" tIns="91440" rIns="91440" bIns="91440" rtlCol="0" anchor="ctr"/>
          <a:lstStyle/>
          <a:p>
            <a:pPr algn="ctr"/>
            <a:endParaRPr lang="pt-BR" sz="1300" b="1" dirty="0">
              <a:solidFill>
                <a:srgbClr val="562142"/>
              </a:solidFill>
              <a:latin typeface="Inter Tight"/>
            </a:endParaRPr>
          </a:p>
        </p:txBody>
      </p:sp>
      <p:sp>
        <p:nvSpPr>
          <p:cNvPr id="18" name="Print 1">
            <a:extLst>
              <a:ext uri="{FF2B5EF4-FFF2-40B4-BE49-F238E27FC236}">
                <a16:creationId xmlns:a16="http://schemas.microsoft.com/office/drawing/2014/main" id="{4635BD97-C37E-90D8-4506-C441BE1BBE94}"/>
              </a:ext>
            </a:extLst>
          </p:cNvPr>
          <p:cNvSpPr/>
          <p:nvPr/>
        </p:nvSpPr>
        <p:spPr>
          <a:xfrm>
            <a:off x="7397228" y="1850000"/>
            <a:ext cx="1532815" cy="3150000"/>
          </a:xfrm>
          <a:prstGeom prst="roundRect">
            <a:avLst>
              <a:gd name="adj" fmla="val 6000"/>
            </a:avLst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chemeClr val="tx1"/>
            </a:solidFill>
            <a:prstDash val="solid"/>
          </a:ln>
        </p:spPr>
        <p:txBody>
          <a:bodyPr wrap="square" lIns="91440" tIns="91440" rIns="91440" bIns="91440" rtlCol="0" anchor="ctr"/>
          <a:lstStyle/>
          <a:p>
            <a:pPr algn="ctr"/>
            <a:endParaRPr lang="pt-BR" sz="1300" b="1" dirty="0">
              <a:solidFill>
                <a:srgbClr val="562142"/>
              </a:solidFill>
              <a:latin typeface="Inter Tight"/>
            </a:endParaRPr>
          </a:p>
        </p:txBody>
      </p:sp>
      <p:sp>
        <p:nvSpPr>
          <p:cNvPr id="19" name="Print 1">
            <a:extLst>
              <a:ext uri="{FF2B5EF4-FFF2-40B4-BE49-F238E27FC236}">
                <a16:creationId xmlns:a16="http://schemas.microsoft.com/office/drawing/2014/main" id="{05B33068-FFCB-5E16-64E4-6FE255AE7F69}"/>
              </a:ext>
            </a:extLst>
          </p:cNvPr>
          <p:cNvSpPr/>
          <p:nvPr/>
        </p:nvSpPr>
        <p:spPr>
          <a:xfrm>
            <a:off x="9424586" y="1869376"/>
            <a:ext cx="1532815" cy="3150000"/>
          </a:xfrm>
          <a:prstGeom prst="roundRect">
            <a:avLst>
              <a:gd name="adj" fmla="val 6000"/>
            </a:avLst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chemeClr val="tx1"/>
            </a:solidFill>
            <a:prstDash val="solid"/>
          </a:ln>
        </p:spPr>
        <p:txBody>
          <a:bodyPr wrap="square" lIns="91440" tIns="91440" rIns="91440" bIns="91440" rtlCol="0" anchor="ctr"/>
          <a:lstStyle/>
          <a:p>
            <a:pPr algn="ctr"/>
            <a:endParaRPr lang="pt-BR" sz="1300" b="1" dirty="0">
              <a:solidFill>
                <a:srgbClr val="562142"/>
              </a:solidFill>
              <a:latin typeface="Inter T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36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APRENDIZADO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795298"/>
            <a:ext cx="10972526" cy="777180"/>
          </a:xfrm>
          <a:prstGeom prst="rect">
            <a:avLst/>
          </a:prstGeom>
          <a:noFill/>
          <a:ln/>
        </p:spPr>
        <p:txBody>
          <a:bodyPr wrap="none" lIns="0" tIns="114297" rIns="0" bIns="114297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 feedback deixou o MVP mais preciso</a:t>
            </a:r>
            <a:endParaRPr lang="en-US" sz="3600" b="1" dirty="0"/>
          </a:p>
        </p:txBody>
      </p:sp>
      <p:sp>
        <p:nvSpPr>
          <p:cNvPr id="4" name="Shape 2"/>
          <p:cNvSpPr/>
          <p:nvPr/>
        </p:nvSpPr>
        <p:spPr>
          <a:xfrm>
            <a:off x="609585" y="1565176"/>
            <a:ext cx="10972526" cy="1069876"/>
          </a:xfrm>
          <a:prstGeom prst="roundRect">
            <a:avLst>
              <a:gd name="adj" fmla="val 1495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1793736"/>
            <a:ext cx="355591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566" y="1749008"/>
            <a:ext cx="9981950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Requisitos</a:t>
            </a:r>
            <a:endParaRPr lang="en-US" sz="1800" dirty="0">
              <a:solidFill>
                <a:srgbClr val="562142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1371566" y="2166441"/>
            <a:ext cx="10210545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 feedback delimitou o escopo e levou à correção do MVP antes de implementar o núcleo.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09585" y="2787452"/>
            <a:ext cx="10972526" cy="1069876"/>
          </a:xfrm>
          <a:prstGeom prst="roundRect">
            <a:avLst>
              <a:gd name="adj" fmla="val 1495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79" y="3016012"/>
            <a:ext cx="355591" cy="355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566" y="2971284"/>
            <a:ext cx="9981950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Escopo</a:t>
            </a:r>
            <a:endParaRPr lang="en-US" sz="1800" dirty="0">
              <a:solidFill>
                <a:srgbClr val="562142"/>
              </a:solidFill>
            </a:endParaRPr>
          </a:p>
        </p:txBody>
      </p:sp>
      <p:sp>
        <p:nvSpPr>
          <p:cNvPr id="11" name="Text 7"/>
          <p:cNvSpPr/>
          <p:nvPr/>
        </p:nvSpPr>
        <p:spPr>
          <a:xfrm>
            <a:off x="1371566" y="3388717"/>
            <a:ext cx="10210545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Fluxo principal, sem notificações nem PDF; entraram prazo, status e persistência local.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09585" y="4009727"/>
            <a:ext cx="10972526" cy="1069876"/>
          </a:xfrm>
          <a:prstGeom prst="roundRect">
            <a:avLst>
              <a:gd name="adj" fmla="val 1495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79" y="4238288"/>
            <a:ext cx="355591" cy="355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566" y="4193560"/>
            <a:ext cx="9981950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Validação</a:t>
            </a:r>
            <a:endParaRPr lang="en-US" sz="1800" dirty="0">
              <a:solidFill>
                <a:srgbClr val="562142"/>
              </a:solidFill>
            </a:endParaRPr>
          </a:p>
        </p:txBody>
      </p:sp>
      <p:sp>
        <p:nvSpPr>
          <p:cNvPr id="15" name="Text 10"/>
          <p:cNvSpPr/>
          <p:nvPr/>
        </p:nvSpPr>
        <p:spPr>
          <a:xfrm>
            <a:off x="1371566" y="4610993"/>
            <a:ext cx="10210545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Próximos passos: validar categorias, severidades e prazos com o stakeholder; definir o login.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09585" y="5203428"/>
            <a:ext cx="10972526" cy="684510"/>
          </a:xfrm>
          <a:prstGeom prst="roundRect">
            <a:avLst>
              <a:gd name="adj" fmla="val 23377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2"/>
          <p:cNvSpPr/>
          <p:nvPr/>
        </p:nvSpPr>
        <p:spPr>
          <a:xfrm>
            <a:off x="787380" y="5425678"/>
            <a:ext cx="11226519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Próximo ciclo: trocar o PIN e o armazenamento local por login e banco de dados reais.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1944547" y="6469261"/>
            <a:ext cx="24714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58786" y="2357267"/>
            <a:ext cx="11074123" cy="1409700"/>
          </a:xfrm>
          <a:prstGeom prst="rect">
            <a:avLst/>
          </a:prstGeom>
          <a:noFill/>
          <a:ln/>
        </p:spPr>
        <p:txBody>
          <a:bodyPr wrap="none" lIns="0" tIns="234944" rIns="0" bIns="234944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7400" b="1" dirty="0" err="1">
                <a:solidFill>
                  <a:srgbClr val="562142"/>
                </a:solidFill>
                <a:latin typeface="Inter Tight"/>
                <a:ea typeface="Inter Tight"/>
                <a:cs typeface="Inter Tight"/>
              </a:rPr>
              <a:t>Obrigado</a:t>
            </a:r>
            <a:r>
              <a:rPr lang="en-US" sz="7400" b="1" dirty="0">
                <a:solidFill>
                  <a:srgbClr val="562142"/>
                </a:solidFill>
                <a:latin typeface="Inter Tight"/>
                <a:ea typeface="Inter Tight"/>
                <a:cs typeface="Inter Tight"/>
              </a:rPr>
              <a:t> pela </a:t>
            </a:r>
            <a:r>
              <a:rPr lang="en-US" sz="7400" b="1" dirty="0" err="1">
                <a:solidFill>
                  <a:srgbClr val="562142"/>
                </a:solidFill>
                <a:latin typeface="Inter Tight"/>
                <a:ea typeface="Inter Tight"/>
                <a:cs typeface="Inter Tight"/>
              </a:rPr>
              <a:t>atenção</a:t>
            </a:r>
            <a:r>
              <a:rPr lang="en-US" sz="7400" b="1" dirty="0">
                <a:solidFill>
                  <a:srgbClr val="562142"/>
                </a:solidFill>
                <a:latin typeface="Inter Tight"/>
                <a:ea typeface="Inter Tight"/>
                <a:cs typeface="Inter Tight"/>
              </a:rPr>
              <a:t>!</a:t>
            </a:r>
            <a:endParaRPr lang="en-US" sz="7400" b="1" dirty="0">
              <a:solidFill>
                <a:srgbClr val="562142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253994" y="3569990"/>
            <a:ext cx="1168370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endParaRPr lang="en-US" sz="1600" dirty="0">
              <a:latin typeface="Heebo Light"/>
              <a:cs typeface="Heebo Ligh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268581" y="4012505"/>
            <a:ext cx="3654334" cy="38100"/>
          </a:xfrm>
          <a:prstGeom prst="roundRect">
            <a:avLst>
              <a:gd name="adj" fmla="val 49999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58736" y="4266506"/>
            <a:ext cx="11074123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2000" dirty="0">
              <a:latin typeface="Inter Tight"/>
              <a:ea typeface="Inter Tight"/>
              <a:cs typeface="Inter T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776</Words>
  <Application>Microsoft Office PowerPoint</Application>
  <PresentationFormat>Widescreen</PresentationFormat>
  <Paragraphs>140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8" baseType="lpstr">
      <vt:lpstr>Heebo Light</vt:lpstr>
      <vt:lpstr>Calibri</vt:lpstr>
      <vt:lpstr>Consolas</vt:lpstr>
      <vt:lpstr>Inter Tight</vt:lpstr>
      <vt:lpstr>Heebo Bold</vt:lpstr>
      <vt:lpstr>Heebo SemiBold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Nikolas Nagy</dc:creator>
  <cp:lastModifiedBy>NIKOLAS PILEGGI NAGY</cp:lastModifiedBy>
  <cp:revision>20</cp:revision>
  <cp:lastPrinted>2026-10-10T12:04:36Z</cp:lastPrinted>
  <dcterms:created xsi:type="dcterms:W3CDTF">2026-10-10T05:06:22Z</dcterms:created>
  <dcterms:modified xsi:type="dcterms:W3CDTF">2026-10-10T16:31:09Z</dcterms:modified>
</cp:coreProperties>
</file>